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9166" y="1297262"/>
            <a:ext cx="2368597" cy="393551"/>
          </a:xfrm>
          <a:prstGeom prst="rect">
            <a:avLst/>
          </a:prstGeom>
          <a:solidFill>
            <a:srgbClr val="FDFDFD"/>
          </a:solidFill>
          <a:ln w="15875">
            <a:solidFill>
              <a:srgbClr val="0101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37562" y="1355566"/>
            <a:ext cx="3833483" cy="276943"/>
          </a:xfrm>
          <a:prstGeom prst="rect">
            <a:avLst/>
          </a:prstGeom>
          <a:solidFill>
            <a:srgbClr val="0303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9149" y="1785557"/>
            <a:ext cx="364399" cy="568463"/>
          </a:xfrm>
          <a:prstGeom prst="rect">
            <a:avLst/>
          </a:prstGeom>
          <a:solidFill>
            <a:srgbClr val="FDC1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49534" y="3979243"/>
            <a:ext cx="736087" cy="58303"/>
          </a:xfrm>
          <a:prstGeom prst="rect">
            <a:avLst/>
          </a:prstGeom>
          <a:solidFill>
            <a:srgbClr val="FDFDFD"/>
          </a:solidFill>
          <a:ln w="15875">
            <a:solidFill>
              <a:srgbClr val="ACA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846" y="5932425"/>
            <a:ext cx="7994926" cy="794391"/>
          </a:xfrm>
          <a:prstGeom prst="rect">
            <a:avLst/>
          </a:prstGeom>
          <a:solidFill>
            <a:srgbClr val="FEFEFD"/>
          </a:solidFill>
          <a:ln w="15875">
            <a:solidFill>
              <a:srgbClr val="BD11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55277" y="5932425"/>
            <a:ext cx="313383" cy="240503"/>
          </a:xfrm>
          <a:prstGeom prst="rect">
            <a:avLst/>
          </a:prstGeom>
          <a:solidFill>
            <a:srgbClr val="FEFEFE"/>
          </a:solidFill>
          <a:ln w="15875">
            <a:solidFill>
              <a:srgbClr val="2526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84429" y="6107336"/>
            <a:ext cx="371687" cy="422703"/>
          </a:xfrm>
          <a:prstGeom prst="rect">
            <a:avLst/>
          </a:prstGeom>
          <a:solidFill>
            <a:srgbClr val="FDFDFD"/>
          </a:solidFill>
          <a:ln w="15875">
            <a:solidFill>
              <a:srgbClr val="0201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1213" y="0"/>
            <a:ext cx="4037547" cy="6858000"/>
          </a:xfrm>
          <a:prstGeom prst="rect">
            <a:avLst/>
          </a:prstGeom>
        </p:spPr>
      </p:pic>
      <p:pic>
        <p:nvPicPr>
          <p:cNvPr id="10" name="Picture 9" descr="residual-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388" y="0"/>
            <a:ext cx="597615" cy="947438"/>
          </a:xfrm>
          <a:prstGeom prst="rect">
            <a:avLst/>
          </a:prstGeom>
        </p:spPr>
      </p:pic>
      <p:pic>
        <p:nvPicPr>
          <p:cNvPr id="11" name="Picture 10" descr="residual-1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10" y="1676238"/>
            <a:ext cx="685071" cy="736087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4001" y="1763693"/>
            <a:ext cx="4270763" cy="2186397"/>
          </a:xfrm>
          <a:prstGeom prst="rect">
            <a:avLst/>
          </a:prstGeom>
        </p:spPr>
      </p:pic>
      <p:pic>
        <p:nvPicPr>
          <p:cNvPr id="13" name="Picture 12" descr="residual-9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910" y="2550797"/>
            <a:ext cx="699647" cy="670495"/>
          </a:xfrm>
          <a:prstGeom prst="rect">
            <a:avLst/>
          </a:prstGeom>
        </p:spPr>
      </p:pic>
      <p:pic>
        <p:nvPicPr>
          <p:cNvPr id="14" name="Picture 13" descr="residual-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910" y="3330612"/>
            <a:ext cx="699647" cy="714223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7562" y="4117715"/>
            <a:ext cx="3920939" cy="1719965"/>
          </a:xfrm>
          <a:prstGeom prst="rect">
            <a:avLst/>
          </a:prstGeom>
        </p:spPr>
      </p:pic>
      <p:pic>
        <p:nvPicPr>
          <p:cNvPr id="16" name="Picture 15" descr="residual-4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3910" y="4205171"/>
            <a:ext cx="685071" cy="663207"/>
          </a:xfrm>
          <a:prstGeom prst="rect">
            <a:avLst/>
          </a:prstGeom>
        </p:spPr>
      </p:pic>
      <p:pic>
        <p:nvPicPr>
          <p:cNvPr id="17" name="Picture 16" descr="residual-2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910" y="4977698"/>
            <a:ext cx="692359" cy="7287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998" y="7287"/>
            <a:ext cx="8279158" cy="98387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30303"/>
                </a:solidFill>
                <a:latin typeface="Malgun Gothic"/>
              </a:defRPr>
            </a:pPr>
            <a:r>
              <a:t>Why Is One Punch Man So Strong?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758" y="998454"/>
            <a:ext cx="6777832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48">
                <a:solidFill>
                  <a:srgbClr val="000000"/>
                </a:solidFill>
                <a:latin typeface="Malgun Gothic"/>
              </a:defRPr>
            </a:pPr>
            <a:r>
              <a:t>Narrative, psychological, and structural reasons behind Saitama's overwhelming power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198" y="1355566"/>
            <a:ext cx="1486750" cy="225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87">
                <a:solidFill>
                  <a:srgbClr val="FFFFFF"/>
                </a:solidFill>
                <a:latin typeface="Malgun Gothic"/>
              </a:defRPr>
            </a:pPr>
            <a:r>
              <a:t>A) CORE REASONS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4169" y="1399294"/>
            <a:ext cx="33160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01">
                <a:solidFill>
                  <a:srgbClr val="F8D264"/>
                </a:solidFill>
                <a:latin typeface="Malgun Gothic"/>
              </a:defRPr>
            </a:pPr>
            <a:r>
              <a:t>B HOW HE DIFFERS FROM TYPICAL SHONEN HEROES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7445" y="1770981"/>
            <a:ext cx="13409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46">
                <a:solidFill>
                  <a:srgbClr val="010101"/>
                </a:solidFill>
                <a:latin typeface="Malgun Gothic"/>
              </a:defRPr>
            </a:pPr>
            <a:r>
              <a:t>BUILT AS A SATIRE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0165" y="1865725"/>
            <a:ext cx="218639" cy="4008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50400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62869" y="1967757"/>
            <a:ext cx="236859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40303"/>
                </a:solidFill>
                <a:latin typeface="Malgun Gothic"/>
              </a:defRPr>
            </a:pPr>
            <a:r>
              <a:t>Saitama was designed to parody power-scaling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7445" y="2142669"/>
            <a:ext cx="217182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40303"/>
                </a:solidFill>
                <a:latin typeface="Malgun Gothic"/>
              </a:defRPr>
            </a:pPr>
            <a:r>
              <a:t>stories—his absurd strength is the premise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62869" y="2273853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6">
                <a:solidFill>
                  <a:srgbClr val="000000"/>
                </a:solidFill>
                <a:latin typeface="Malgun Gothic"/>
              </a:defRPr>
            </a:pPr>
            <a:r>
              <a:t>not the reward.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0157" y="2601812"/>
            <a:ext cx="20406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9">
                <a:solidFill>
                  <a:srgbClr val="020202"/>
                </a:solidFill>
                <a:latin typeface="Malgun Gothic"/>
              </a:defRPr>
            </a:pPr>
            <a:r>
              <a:t>ALREADY AT THE FINISH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6437" y="2667404"/>
            <a:ext cx="342535" cy="4518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50400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62869" y="2798588"/>
            <a:ext cx="23467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30303"/>
                </a:solidFill>
                <a:latin typeface="Malgun Gothic"/>
              </a:defRPr>
            </a:pPr>
            <a:r>
              <a:t>While others train and climb for years to reach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5581" y="2951636"/>
            <a:ext cx="22155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50404"/>
                </a:solidFill>
                <a:latin typeface="Malgun Gothic"/>
              </a:defRPr>
            </a:pPr>
            <a:r>
              <a:t>the top, he begins where most protagonists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70157" y="3126548"/>
            <a:ext cx="107862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30302"/>
                </a:solidFill>
                <a:latin typeface="Malgun Gothic"/>
              </a:defRPr>
            </a:pPr>
            <a:r>
              <a:t>are supposed to end.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62869" y="3418068"/>
            <a:ext cx="199690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32">
                <a:solidFill>
                  <a:srgbClr val="000000"/>
                </a:solidFill>
                <a:latin typeface="Malgun Gothic"/>
              </a:defRPr>
            </a:pPr>
            <a:r>
              <a:t>LIMIT-BREAKING SIMPLICITY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2877" y="3512811"/>
            <a:ext cx="269655" cy="4008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50400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62869" y="3643995"/>
            <a:ext cx="247062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50504"/>
                </a:solidFill>
                <a:latin typeface="Malgun Gothic"/>
              </a:defRPr>
            </a:pPr>
            <a:r>
              <a:t>His routine is both disciplined and comically extreme: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5581" y="3775179"/>
            <a:ext cx="201148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10101"/>
                </a:solidFill>
                <a:latin typeface="Malgun Gothic"/>
              </a:defRPr>
            </a:pPr>
            <a:r>
              <a:t>100 push-ups, 100 sit-ups, 100 squats,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62869" y="3942803"/>
            <a:ext cx="13992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20201"/>
                </a:solidFill>
                <a:latin typeface="Malgun Gothic"/>
              </a:defRPr>
            </a:pPr>
            <a:r>
              <a:t>and a 10 km run every day.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77445" y="4263475"/>
            <a:ext cx="179284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>
                <a:solidFill>
                  <a:srgbClr val="010101"/>
                </a:solidFill>
                <a:latin typeface="Malgun Gothic"/>
              </a:defRPr>
            </a:pPr>
            <a:r>
              <a:t>EMOTIONALLY UNSHAKEN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3725" y="4299914"/>
            <a:ext cx="327959" cy="4664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40300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5581" y="4445674"/>
            <a:ext cx="20625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30303"/>
                </a:solidFill>
                <a:latin typeface="Malgun Gothic"/>
              </a:defRPr>
            </a:pPr>
            <a:r>
              <a:t>He fights without fear, ego, or hesitation.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48293" y="4598722"/>
            <a:ext cx="20333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13">
                <a:solidFill>
                  <a:srgbClr val="030303"/>
                </a:solidFill>
                <a:latin typeface="Malgun Gothic"/>
              </a:defRPr>
            </a:pPr>
            <a:r>
              <a:t>No need to prove himself—he's already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62869" y="4766346"/>
            <a:ext cx="161064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40303"/>
                </a:solidFill>
                <a:latin typeface="Malgun Gothic"/>
              </a:defRPr>
            </a:pPr>
            <a:r>
              <a:t>beyond the need for validation.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70157" y="5094306"/>
            <a:ext cx="243418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30">
                <a:solidFill>
                  <a:srgbClr val="000000"/>
                </a:solidFill>
                <a:latin typeface="Malgun Gothic"/>
              </a:defRPr>
            </a:pPr>
            <a:r>
              <a:t>THE STORY NEEDS AN UNBEATABLE HERO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1013" y="5145321"/>
            <a:ext cx="298807" cy="42999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40300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62869" y="5291081"/>
            <a:ext cx="22228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20102"/>
                </a:solidFill>
                <a:latin typeface="Malgun Gothic"/>
              </a:defRPr>
            </a:pPr>
            <a:r>
              <a:t>His power lets the series go beyond battles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48293" y="5444129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11">
                <a:solidFill>
                  <a:srgbClr val="010101"/>
                </a:solidFill>
                <a:latin typeface="Malgun Gothic"/>
              </a:defRPr>
            </a:pPr>
            <a:r>
              <a:t>to explore boredom, meaning, and identity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62869" y="5589889"/>
            <a:ext cx="117336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20202"/>
                </a:solidFill>
                <a:latin typeface="Malgun Gothic"/>
              </a:defRPr>
            </a:pPr>
            <a:r>
              <a:t>after absolute victory.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4867" y="6070896"/>
            <a:ext cx="4197883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36">
                <a:solidFill>
                  <a:srgbClr val="020202"/>
                </a:solidFill>
                <a:latin typeface="Malgun Gothic"/>
              </a:defRPr>
            </a:pPr>
            <a:r>
              <a:t>One Punch Man is powerful as a character because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85925" y="6136488"/>
            <a:ext cx="1596070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82">
                <a:solidFill>
                  <a:srgbClr val="FFFFFF"/>
                </a:solidFill>
                <a:latin typeface="Malgun Gothic"/>
              </a:defRPr>
            </a:pPr>
            <a:r>
              <a:t>D) KEY TAKEAWAY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70291" y="6318688"/>
            <a:ext cx="4256187" cy="2405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24">
                <a:solidFill>
                  <a:srgbClr val="020202"/>
                </a:solidFill>
                <a:latin typeface="Malgun Gothic"/>
              </a:defRPr>
            </a:pPr>
            <a:r>
              <a:t>his strength is both a joke and a storytelling device.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6454" y="1333702"/>
            <a:ext cx="1756405" cy="291519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11013" y="6063608"/>
            <a:ext cx="1945893" cy="502871"/>
          </a:xfrm>
          <a:prstGeom prst="rect">
            <a:avLst/>
          </a:prstGeom>
          <a:solidFill>
            <a:srgbClr val="BD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96137" y="1967757"/>
            <a:ext cx="9693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7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41322" y="2142669"/>
            <a:ext cx="7287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29370" y="3643995"/>
            <a:ext cx="8672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31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