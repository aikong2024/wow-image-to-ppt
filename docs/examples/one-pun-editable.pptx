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49534" y="3979243"/>
            <a:ext cx="736087" cy="58303"/>
          </a:xfrm>
          <a:prstGeom prst="rect">
            <a:avLst/>
          </a:prstGeom>
          <a:solidFill>
            <a:srgbClr val="FDFDFD"/>
          </a:solidFill>
          <a:ln w="15875">
            <a:solidFill>
              <a:srgbClr val="ACA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55277" y="5932425"/>
            <a:ext cx="313383" cy="240503"/>
          </a:xfrm>
          <a:prstGeom prst="rect">
            <a:avLst/>
          </a:prstGeom>
          <a:solidFill>
            <a:srgbClr val="FEFEFE"/>
          </a:solidFill>
          <a:ln w="15875">
            <a:solidFill>
              <a:srgbClr val="2526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66" y="1297262"/>
            <a:ext cx="2368597" cy="39355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562" y="1355566"/>
            <a:ext cx="3833483" cy="2769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149" y="1785557"/>
            <a:ext cx="364399" cy="56846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46" y="5932425"/>
            <a:ext cx="7994926" cy="79439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429" y="6107336"/>
            <a:ext cx="371687" cy="422703"/>
          </a:xfrm>
          <a:prstGeom prst="rect">
            <a:avLst/>
          </a:prstGeom>
        </p:spPr>
      </p:pic>
      <p:pic>
        <p:nvPicPr>
          <p:cNvPr id="9" name="Picture 8" descr="residual-1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1213" y="0"/>
            <a:ext cx="4037547" cy="6858000"/>
          </a:xfrm>
          <a:prstGeom prst="rect">
            <a:avLst/>
          </a:prstGeom>
        </p:spPr>
      </p:pic>
      <p:pic>
        <p:nvPicPr>
          <p:cNvPr id="10" name="Picture 9" descr="residual-15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2388" y="0"/>
            <a:ext cx="597615" cy="947438"/>
          </a:xfrm>
          <a:prstGeom prst="rect">
            <a:avLst/>
          </a:prstGeom>
        </p:spPr>
      </p:pic>
      <p:pic>
        <p:nvPicPr>
          <p:cNvPr id="11" name="Picture 10" descr="residual-11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910" y="1676238"/>
            <a:ext cx="685071" cy="73608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4001" y="1763693"/>
            <a:ext cx="4270763" cy="2186397"/>
          </a:xfrm>
          <a:prstGeom prst="rect">
            <a:avLst/>
          </a:prstGeom>
        </p:spPr>
      </p:pic>
      <p:pic>
        <p:nvPicPr>
          <p:cNvPr id="13" name="Picture 12" descr="residual-9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910" y="2550797"/>
            <a:ext cx="699647" cy="670495"/>
          </a:xfrm>
          <a:prstGeom prst="rect">
            <a:avLst/>
          </a:prstGeom>
        </p:spPr>
      </p:pic>
      <p:pic>
        <p:nvPicPr>
          <p:cNvPr id="14" name="Picture 13" descr="residual-8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910" y="3330612"/>
            <a:ext cx="699647" cy="714223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37562" y="4117715"/>
            <a:ext cx="3920939" cy="1719965"/>
          </a:xfrm>
          <a:prstGeom prst="rect">
            <a:avLst/>
          </a:prstGeom>
        </p:spPr>
      </p:pic>
      <p:pic>
        <p:nvPicPr>
          <p:cNvPr id="16" name="Picture 15" descr="residual-4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910" y="4205171"/>
            <a:ext cx="685071" cy="663207"/>
          </a:xfrm>
          <a:prstGeom prst="rect">
            <a:avLst/>
          </a:prstGeom>
        </p:spPr>
      </p:pic>
      <p:pic>
        <p:nvPicPr>
          <p:cNvPr id="17" name="Picture 16" descr="residual-2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910" y="4977698"/>
            <a:ext cx="692359" cy="72879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36454" y="1333702"/>
            <a:ext cx="1756405" cy="291519"/>
          </a:xfrm>
          <a:prstGeom prst="rect">
            <a:avLst/>
          </a:prstGeom>
          <a:solidFill>
            <a:srgbClr val="0202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4850" y="1377430"/>
            <a:ext cx="3600267" cy="247791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9895" y="1734541"/>
            <a:ext cx="685071" cy="502871"/>
          </a:xfrm>
          <a:prstGeom prst="rect">
            <a:avLst/>
          </a:prstGeom>
          <a:solidFill>
            <a:srgbClr val="0202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0223" y="1829285"/>
            <a:ext cx="962014" cy="327959"/>
          </a:xfrm>
          <a:prstGeom prst="rect">
            <a:avLst/>
          </a:prstGeom>
          <a:solidFill>
            <a:srgbClr val="BC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30274" y="4103139"/>
            <a:ext cx="1887589" cy="306095"/>
          </a:xfrm>
          <a:prstGeom prst="rect">
            <a:avLst/>
          </a:prstGeom>
          <a:solidFill>
            <a:srgbClr val="030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11013" y="6063608"/>
            <a:ext cx="1945893" cy="502871"/>
          </a:xfrm>
          <a:prstGeom prst="rect">
            <a:avLst/>
          </a:prstGeom>
          <a:solidFill>
            <a:srgbClr val="BD0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8998" y="7287"/>
            <a:ext cx="7958486" cy="983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5419" b="1" i="0">
                <a:solidFill>
                  <a:srgbClr val="030303"/>
                </a:solidFill>
                <a:latin typeface="Impact"/>
              </a:defRPr>
            </a:pPr>
            <a:r>
              <a:t>Why Is One Punch Man So Strong?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758" y="998454"/>
            <a:ext cx="6777832" cy="218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80" b="0" i="1">
                <a:solidFill>
                  <a:srgbClr val="000000"/>
                </a:solidFill>
                <a:latin typeface="Arial"/>
              </a:defRPr>
            </a:pPr>
            <a:r>
              <a:t>Narrative, psychological, and structural reasons behind Saitama's overwhelming power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198" y="1355566"/>
            <a:ext cx="1486750" cy="2259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334" b="1" i="0">
                <a:solidFill>
                  <a:srgbClr val="FFFFFF"/>
                </a:solidFill>
                <a:latin typeface="Arial"/>
              </a:defRPr>
            </a:pPr>
            <a:r>
              <a:t>A) CORE REASONS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4169" y="1399294"/>
            <a:ext cx="33160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38" b="1" i="0">
                <a:solidFill>
                  <a:srgbClr val="F8D264"/>
                </a:solidFill>
                <a:latin typeface="Arial"/>
              </a:defRPr>
            </a:pPr>
            <a:r>
              <a:t>B) HOW HE DIFFERS FROM TYPICAL SHONEN HEROES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7445" y="1770981"/>
            <a:ext cx="134099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46" b="1" i="0">
                <a:solidFill>
                  <a:srgbClr val="010101"/>
                </a:solidFill>
                <a:latin typeface="Arial"/>
              </a:defRPr>
            </a:pPr>
            <a:r>
              <a:t>BUILT AS A SATIRE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1079" y="1807421"/>
            <a:ext cx="378975" cy="3571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624" b="1" i="0">
                <a:solidFill>
                  <a:srgbClr val="F7C403"/>
                </a:solidFill>
                <a:latin typeface="Arial"/>
              </a:defRPr>
            </a:pPr>
            <a:r>
              <a:t>VS.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165" y="1865725"/>
            <a:ext cx="218639" cy="400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687" b="0" i="0">
                <a:solidFill>
                  <a:srgbClr val="05040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5134" y="1902165"/>
            <a:ext cx="612191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75" b="1" i="0">
                <a:solidFill>
                  <a:srgbClr val="FFFFFF"/>
                </a:solidFill>
                <a:latin typeface="Arial"/>
              </a:defRPr>
            </a:pPr>
            <a:r>
              <a:t>SAITAMA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3313" y="1916741"/>
            <a:ext cx="131912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3" b="1" i="0">
                <a:solidFill>
                  <a:srgbClr val="000000"/>
                </a:solidFill>
                <a:latin typeface="Arial"/>
              </a:defRPr>
            </a:pPr>
            <a:r>
              <a:t>TYPICAL SHONEN HERO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6137" y="1967757"/>
            <a:ext cx="9693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47" b="0" i="0">
                <a:solidFill>
                  <a:srgbClr val="111111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62869" y="1967757"/>
            <a:ext cx="2368597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26" b="0" i="0">
                <a:solidFill>
                  <a:srgbClr val="040303"/>
                </a:solidFill>
                <a:latin typeface="Arial"/>
              </a:defRPr>
            </a:pPr>
            <a:r>
              <a:t>Saitama was designed to parody power-scaling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1322" y="2142669"/>
            <a:ext cx="7287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0" b="0" i="0">
                <a:solidFill>
                  <a:srgbClr val="111111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7445" y="2142669"/>
            <a:ext cx="2171821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0" b="0" i="0">
                <a:solidFill>
                  <a:srgbClr val="040303"/>
                </a:solidFill>
                <a:latin typeface="Arial"/>
              </a:defRPr>
            </a:pPr>
            <a:r>
              <a:t>stories—his absurd strength is the premise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2869" y="2273853"/>
            <a:ext cx="81625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41" b="0" i="0">
                <a:solidFill>
                  <a:srgbClr val="000000"/>
                </a:solidFill>
                <a:latin typeface="Arial"/>
              </a:defRPr>
            </a:pPr>
            <a:r>
              <a:t>not the reward.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2254" y="2332157"/>
            <a:ext cx="103489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54" b="0" i="0">
                <a:solidFill>
                  <a:srgbClr val="BB0000"/>
                </a:solidFill>
                <a:latin typeface="Arial"/>
              </a:defRPr>
            </a:pPr>
            <a:r>
              <a:t>Already complete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4665" y="2339445"/>
            <a:ext cx="6413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60" b="0" i="0">
                <a:solidFill>
                  <a:srgbClr val="000000"/>
                </a:solidFill>
                <a:latin typeface="Arial"/>
              </a:defRPr>
            </a:pPr>
            <a:r>
              <a:t>Growth arc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0157" y="2601812"/>
            <a:ext cx="2040637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89" b="1" i="0">
                <a:solidFill>
                  <a:srgbClr val="020202"/>
                </a:solidFill>
                <a:latin typeface="Arial"/>
              </a:defRPr>
            </a:pPr>
            <a:r>
              <a:t>ALREADY AT THE FINISH 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6437" y="2667404"/>
            <a:ext cx="342535" cy="4518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643" b="0" i="0">
                <a:solidFill>
                  <a:srgbClr val="05040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7377" y="2762148"/>
            <a:ext cx="121709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76" b="0" i="0">
                <a:solidFill>
                  <a:srgbClr val="000000"/>
                </a:solidFill>
                <a:latin typeface="Arial"/>
              </a:defRPr>
            </a:pPr>
            <a:r>
              <a:t>Wins through struggle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2254" y="2769436"/>
            <a:ext cx="81625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72" b="0" i="0">
                <a:solidFill>
                  <a:srgbClr val="BA0000"/>
                </a:solidFill>
                <a:latin typeface="Arial"/>
              </a:defRPr>
            </a:pPr>
            <a:r>
              <a:t>Wins instantly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62869" y="2798588"/>
            <a:ext cx="234673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0" b="0" i="0">
                <a:solidFill>
                  <a:srgbClr val="030303"/>
                </a:solidFill>
                <a:latin typeface="Arial"/>
              </a:defRPr>
            </a:pPr>
            <a:r>
              <a:t>While others train and climb for years to reach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55581" y="2951636"/>
            <a:ext cx="221554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21" b="0" i="0">
                <a:solidFill>
                  <a:srgbClr val="050404"/>
                </a:solidFill>
                <a:latin typeface="Arial"/>
              </a:defRPr>
            </a:pPr>
            <a:r>
              <a:t>the top, he begins where most protagonists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0157" y="3126548"/>
            <a:ext cx="107862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31" b="0" i="0">
                <a:solidFill>
                  <a:srgbClr val="030302"/>
                </a:solidFill>
                <a:latin typeface="Arial"/>
              </a:defRPr>
            </a:pPr>
            <a:r>
              <a:t>are supposed to end.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4966" y="3126548"/>
            <a:ext cx="75066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64" b="0" i="0">
                <a:solidFill>
                  <a:srgbClr val="C50000"/>
                </a:solidFill>
                <a:latin typeface="Arial"/>
              </a:defRPr>
            </a:pPr>
            <a:r>
              <a:t>Power is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10089" y="3214004"/>
            <a:ext cx="86727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11" b="0" i="0">
                <a:solidFill>
                  <a:srgbClr val="000000"/>
                </a:solidFill>
                <a:latin typeface="Arial"/>
              </a:defRPr>
            </a:pPr>
            <a:r>
              <a:t>Power is a goal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4825" y="3308748"/>
            <a:ext cx="11223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66" b="0" i="0">
                <a:solidFill>
                  <a:srgbClr val="111111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9542" y="3308748"/>
            <a:ext cx="80167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59" b="0" i="0">
                <a:solidFill>
                  <a:srgbClr val="C50102"/>
                </a:solidFill>
                <a:latin typeface="Arial"/>
              </a:defRPr>
            </a:pPr>
            <a:r>
              <a:t>starting point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62869" y="3418068"/>
            <a:ext cx="199690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32" b="1" i="0">
                <a:solidFill>
                  <a:srgbClr val="000000"/>
                </a:solidFill>
                <a:latin typeface="Arial"/>
              </a:defRPr>
            </a:pPr>
            <a:r>
              <a:t>LIMIT-BREAKING SIMPLICITY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2877" y="3512811"/>
            <a:ext cx="269655" cy="400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080" b="0" i="0">
                <a:solidFill>
                  <a:srgbClr val="05040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10089" y="3585691"/>
            <a:ext cx="85998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78" b="0" i="0">
                <a:solidFill>
                  <a:srgbClr val="000000"/>
                </a:solidFill>
                <a:latin typeface="Arial"/>
              </a:defRPr>
            </a:pPr>
            <a:r>
              <a:t>Tension comes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12254" y="3600267"/>
            <a:ext cx="85998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60" b="0" i="0">
                <a:solidFill>
                  <a:srgbClr val="BA0001"/>
                </a:solidFill>
                <a:latin typeface="Arial"/>
              </a:defRPr>
            </a:pPr>
            <a:r>
              <a:t>Tension comes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9370" y="3643995"/>
            <a:ext cx="86727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0" b="0" i="0">
                <a:solidFill>
                  <a:srgbClr val="111111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62869" y="3643995"/>
            <a:ext cx="247062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0" b="0" i="0">
                <a:solidFill>
                  <a:srgbClr val="050504"/>
                </a:solidFill>
                <a:latin typeface="Arial"/>
              </a:defRPr>
            </a:pPr>
            <a:r>
              <a:t>His routine is both disciplined and comically extreme: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5991" y="3753315"/>
            <a:ext cx="12753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84" b="0" i="0">
                <a:solidFill>
                  <a:srgbClr val="111111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4966" y="3753315"/>
            <a:ext cx="82354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14" b="0" i="0">
                <a:solidFill>
                  <a:srgbClr val="BA0000"/>
                </a:solidFill>
                <a:latin typeface="Arial"/>
              </a:defRPr>
            </a:pPr>
            <a:r>
              <a:t>from meaning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15380" y="3760603"/>
            <a:ext cx="107133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26" b="0" i="0">
                <a:solidFill>
                  <a:srgbClr val="111111"/>
                </a:solidFill>
                <a:latin typeface="Malgun Gothic"/>
              </a:defRPr>
            </a:pPr>
            <a: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17377" y="3760603"/>
            <a:ext cx="65591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97" b="0" i="0">
                <a:solidFill>
                  <a:srgbClr val="000001"/>
                </a:solidFill>
                <a:latin typeface="Arial"/>
              </a:defRPr>
            </a:pPr>
            <a:r>
              <a:t>from battle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55581" y="3775179"/>
            <a:ext cx="201148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20" b="0" i="0">
                <a:solidFill>
                  <a:srgbClr val="010101"/>
                </a:solidFill>
                <a:latin typeface="Arial"/>
              </a:defRPr>
            </a:pPr>
            <a:r>
              <a:t>100 push-ups, 100 sit-ups, 100 squats,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62869" y="3942803"/>
            <a:ext cx="139929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65" b="0" i="0">
                <a:solidFill>
                  <a:srgbClr val="020201"/>
                </a:solidFill>
                <a:latin typeface="Arial"/>
              </a:defRPr>
            </a:pPr>
            <a:r>
              <a:t>and a 10 km run every day.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03153" y="4117715"/>
            <a:ext cx="1639798" cy="218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160" b="1" i="0">
                <a:solidFill>
                  <a:srgbClr val="F7F7F7"/>
                </a:solidFill>
                <a:latin typeface="Arial"/>
              </a:defRPr>
            </a:pPr>
            <a:r>
              <a:t>C) NARRATIVE IMPACT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77445" y="4263475"/>
            <a:ext cx="179284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03" b="1" i="0">
                <a:solidFill>
                  <a:srgbClr val="010101"/>
                </a:solidFill>
                <a:latin typeface="Arial"/>
              </a:defRPr>
            </a:pPr>
            <a:r>
              <a:t>EMOTIONALLY UNSHAKEN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3725" y="4299914"/>
            <a:ext cx="327959" cy="4664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530" b="0" i="0">
                <a:solidFill>
                  <a:srgbClr val="0403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55581" y="4445674"/>
            <a:ext cx="2062501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0" b="0" i="0">
                <a:solidFill>
                  <a:srgbClr val="030303"/>
                </a:solidFill>
                <a:latin typeface="Arial"/>
              </a:defRPr>
            </a:pPr>
            <a:r>
              <a:t>He fights without fear, ego, or hesitation.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272456" y="4496690"/>
            <a:ext cx="115879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162" b="1" i="0">
                <a:solidFill>
                  <a:srgbClr val="020200"/>
                </a:solidFill>
                <a:latin typeface="Arial"/>
              </a:defRPr>
            </a:pPr>
            <a:r>
              <a:t>WHY IT WORKS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48293" y="4598722"/>
            <a:ext cx="203334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48" b="0" i="0">
                <a:solidFill>
                  <a:srgbClr val="030303"/>
                </a:solidFill>
                <a:latin typeface="Arial"/>
              </a:defRPr>
            </a:pPr>
            <a:r>
              <a:t>No need to prove himself—he's already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72456" y="4722618"/>
            <a:ext cx="257994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59" b="0" i="0">
                <a:solidFill>
                  <a:srgbClr val="020100"/>
                </a:solidFill>
                <a:latin typeface="Arial"/>
              </a:defRPr>
            </a:pPr>
            <a:r>
              <a:t>Saitama is not just strong in a physical sense.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62869" y="4766346"/>
            <a:ext cx="161064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6" b="0" i="0">
                <a:solidFill>
                  <a:srgbClr val="040303"/>
                </a:solidFill>
                <a:latin typeface="Arial"/>
              </a:defRPr>
            </a:pPr>
            <a:r>
              <a:t>beyond the need for validation.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79744" y="4912106"/>
            <a:ext cx="248520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17" b="0" i="0">
                <a:solidFill>
                  <a:srgbClr val="000000"/>
                </a:solidFill>
                <a:latin typeface="Arial"/>
              </a:defRPr>
            </a:pPr>
            <a:r>
              <a:t>He works because his power flips the usual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00684" y="4955834"/>
            <a:ext cx="2820452" cy="18365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3400" b="1" i="0">
                <a:solidFill>
                  <a:srgbClr val="FEFEFE"/>
                </a:solidFill>
                <a:latin typeface="Arial"/>
              </a:defRPr>
            </a:pPr>
            <a:r>
              <a:t>BAM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570157" y="5094306"/>
            <a:ext cx="2434189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980" b="1" i="0">
                <a:solidFill>
                  <a:srgbClr val="000000"/>
                </a:solidFill>
                <a:latin typeface="Arial"/>
              </a:defRPr>
            </a:pPr>
            <a:r>
              <a:t>THE STORY NEEDS AN UNBEATABLE HERO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79744" y="5101594"/>
            <a:ext cx="2295717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99" b="0" i="0">
                <a:solidFill>
                  <a:srgbClr val="020000"/>
                </a:solidFill>
                <a:latin typeface="Arial"/>
              </a:defRPr>
            </a:pPr>
            <a:r>
              <a:t>battle-anime formula and turns the real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1013" y="5145321"/>
            <a:ext cx="298807" cy="4299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305" b="0" i="0">
                <a:solidFill>
                  <a:srgbClr val="04030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72456" y="5276505"/>
            <a:ext cx="2244701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55" b="0" i="0">
                <a:solidFill>
                  <a:srgbClr val="010000"/>
                </a:solidFill>
                <a:latin typeface="Arial"/>
              </a:defRPr>
            </a:pPr>
            <a:r>
              <a:t>conflict inward:: purpose, boredom,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62869" y="5291081"/>
            <a:ext cx="2222837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13" b="0" i="0">
                <a:solidFill>
                  <a:srgbClr val="020102"/>
                </a:solidFill>
                <a:latin typeface="Arial"/>
              </a:defRPr>
            </a:pPr>
            <a:r>
              <a:t>His power lets the series go beyond battles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48293" y="5444129"/>
            <a:ext cx="2244701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41" b="0" i="0">
                <a:solidFill>
                  <a:srgbClr val="010101"/>
                </a:solidFill>
                <a:latin typeface="Arial"/>
              </a:defRPr>
            </a:pPr>
            <a:r>
              <a:t>to explore boredom, meaning, and identity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65168" y="5451417"/>
            <a:ext cx="1843861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867" b="0" i="0">
                <a:solidFill>
                  <a:srgbClr val="000000"/>
                </a:solidFill>
                <a:latin typeface="Arial"/>
              </a:defRPr>
            </a:pPr>
            <a:r>
              <a:t>and the search for challenge.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62869" y="5589889"/>
            <a:ext cx="117336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700" b="0" i="0">
                <a:solidFill>
                  <a:srgbClr val="020202"/>
                </a:solidFill>
                <a:latin typeface="Arial"/>
              </a:defRPr>
            </a:pPr>
            <a:r>
              <a:t>after absolute victory.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4867" y="6070896"/>
            <a:ext cx="4197883" cy="218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208" b="0" i="0">
                <a:solidFill>
                  <a:srgbClr val="020202"/>
                </a:solidFill>
                <a:latin typeface="Arial"/>
              </a:defRPr>
            </a:pPr>
            <a:r>
              <a:t>One Punch Man is powerful as a character because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85925" y="6136488"/>
            <a:ext cx="1596070" cy="3571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2242" b="1" i="0">
                <a:solidFill>
                  <a:srgbClr val="FFFFFF"/>
                </a:solidFill>
                <a:latin typeface="Impact"/>
              </a:defRPr>
            </a:pPr>
            <a:r>
              <a:t>D) KEY TAKEAWAY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70291" y="6318688"/>
            <a:ext cx="4256187" cy="2405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>
              <a:defRPr sz="1089" b="0" i="0">
                <a:solidFill>
                  <a:srgbClr val="020202"/>
                </a:solidFill>
                <a:latin typeface="Arial"/>
              </a:defRPr>
            </a:pPr>
            <a:r>
              <a:t>his strength is both a joke and a storytelling device.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