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9166" y="1297262"/>
            <a:ext cx="2368597" cy="393551"/>
          </a:xfrm>
          <a:prstGeom prst="rect">
            <a:avLst/>
          </a:prstGeom>
          <a:solidFill>
            <a:srgbClr val="FDFDFD"/>
          </a:solidFill>
          <a:ln w="15875">
            <a:solidFill>
              <a:srgbClr val="0101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37562" y="1355566"/>
            <a:ext cx="3833483" cy="276943"/>
          </a:xfrm>
          <a:prstGeom prst="rect">
            <a:avLst/>
          </a:prstGeom>
          <a:solidFill>
            <a:srgbClr val="03030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89149" y="1785557"/>
            <a:ext cx="364399" cy="568463"/>
          </a:xfrm>
          <a:prstGeom prst="rect">
            <a:avLst/>
          </a:prstGeom>
          <a:solidFill>
            <a:srgbClr val="FDC1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49534" y="3979243"/>
            <a:ext cx="736087" cy="58303"/>
          </a:xfrm>
          <a:prstGeom prst="rect">
            <a:avLst/>
          </a:prstGeom>
          <a:solidFill>
            <a:srgbClr val="FDFDFD"/>
          </a:solidFill>
          <a:ln w="15875">
            <a:solidFill>
              <a:srgbClr val="ACAD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9846" y="5932425"/>
            <a:ext cx="7994926" cy="794391"/>
          </a:xfrm>
          <a:prstGeom prst="rect">
            <a:avLst/>
          </a:prstGeom>
          <a:solidFill>
            <a:srgbClr val="FEFEFD"/>
          </a:solidFill>
          <a:ln w="15875">
            <a:solidFill>
              <a:srgbClr val="BD110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2229" y="0"/>
            <a:ext cx="3935515" cy="6858000"/>
          </a:xfrm>
          <a:prstGeom prst="rect">
            <a:avLst/>
          </a:prstGeom>
        </p:spPr>
      </p:pic>
      <p:pic>
        <p:nvPicPr>
          <p:cNvPr id="8" name="Picture 7" descr="residual-1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910" y="1676238"/>
            <a:ext cx="685071" cy="736087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4001" y="1763693"/>
            <a:ext cx="4270763" cy="2186397"/>
          </a:xfrm>
          <a:prstGeom prst="rect">
            <a:avLst/>
          </a:prstGeom>
        </p:spPr>
      </p:pic>
      <p:pic>
        <p:nvPicPr>
          <p:cNvPr id="10" name="Picture 9" descr="residual-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910" y="2550797"/>
            <a:ext cx="699647" cy="670495"/>
          </a:xfrm>
          <a:prstGeom prst="rect">
            <a:avLst/>
          </a:prstGeom>
        </p:spPr>
      </p:pic>
      <p:pic>
        <p:nvPicPr>
          <p:cNvPr id="11" name="Picture 10" descr="residual-8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910" y="3330612"/>
            <a:ext cx="699647" cy="714223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37562" y="4117715"/>
            <a:ext cx="3920939" cy="1719965"/>
          </a:xfrm>
          <a:prstGeom prst="rect">
            <a:avLst/>
          </a:prstGeom>
        </p:spPr>
      </p:pic>
      <p:pic>
        <p:nvPicPr>
          <p:cNvPr id="13" name="Picture 12" descr="residual-4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3910" y="4205171"/>
            <a:ext cx="685071" cy="663207"/>
          </a:xfrm>
          <a:prstGeom prst="rect">
            <a:avLst/>
          </a:prstGeom>
        </p:spPr>
      </p:pic>
      <p:pic>
        <p:nvPicPr>
          <p:cNvPr id="14" name="Picture 13" descr="residual-28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3910" y="4977698"/>
            <a:ext cx="692359" cy="72879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8998" y="7287"/>
            <a:ext cx="1909453" cy="98387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000">
                <a:solidFill>
                  <a:srgbClr val="FFFFFF"/>
                </a:solidFill>
                <a:latin typeface="Malgun Gothic"/>
              </a:defRPr>
            </a:pPr>
            <a:r>
              <a:t>Why 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4505" y="36439"/>
            <a:ext cx="1246246" cy="85998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000">
                <a:solidFill>
                  <a:srgbClr val="FFFFFF"/>
                </a:solidFill>
                <a:latin typeface="Malgun Gothic"/>
              </a:defRPr>
            </a:pPr>
            <a:r>
              <a:t>Man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1079" y="36439"/>
            <a:ext cx="2077077" cy="92557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000">
                <a:solidFill>
                  <a:srgbClr val="FFFFFF"/>
                </a:solidFill>
                <a:latin typeface="Malgun Gothic"/>
              </a:defRPr>
            </a:pPr>
            <a:r>
              <a:t>Strong?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6008" y="51015"/>
            <a:ext cx="1027606" cy="85269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000">
                <a:solidFill>
                  <a:srgbClr val="FFFFFF"/>
                </a:solidFill>
                <a:latin typeface="Malgun Gothic"/>
              </a:defRPr>
            </a:pPr>
            <a:r>
              <a:t>S0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98116" y="80167"/>
            <a:ext cx="1071334" cy="78710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000">
                <a:solidFill>
                  <a:srgbClr val="FFFFFF"/>
                </a:solidFill>
                <a:latin typeface="Malgun Gothic"/>
              </a:defRPr>
            </a:pPr>
            <a:r>
              <a:t>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6739" y="94743"/>
            <a:ext cx="1574206" cy="75066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000">
                <a:solidFill>
                  <a:srgbClr val="FEFEFD"/>
                </a:solidFill>
                <a:latin typeface="Malgun Gothic"/>
              </a:defRPr>
            </a:pPr>
            <a:r>
              <a:t>Punch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7385" y="998454"/>
            <a:ext cx="2485205" cy="21863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153">
                <a:solidFill>
                  <a:srgbClr val="010101"/>
                </a:solidFill>
                <a:latin typeface="Malgun Gothic"/>
              </a:defRPr>
            </a:pPr>
            <a:r>
              <a:t>Saitama's overwhelming power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4758" y="1027606"/>
            <a:ext cx="193860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007">
                <a:solidFill>
                  <a:srgbClr val="000000"/>
                </a:solidFill>
                <a:latin typeface="Malgun Gothic"/>
              </a:defRPr>
            </a:pPr>
            <a:r>
              <a:t>Narrative, psychological,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55228" y="1034894"/>
            <a:ext cx="1770981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03">
                <a:solidFill>
                  <a:srgbClr val="010101"/>
                </a:solidFill>
                <a:latin typeface="Malgun Gothic"/>
              </a:defRPr>
            </a:pPr>
            <a:r>
              <a:t>and structural reasons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11634" y="1034894"/>
            <a:ext cx="590327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03">
                <a:solidFill>
                  <a:srgbClr val="000000"/>
                </a:solidFill>
                <a:latin typeface="Malgun Gothic"/>
              </a:defRPr>
            </a:pPr>
            <a:r>
              <a:t>behind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838" y="1355566"/>
            <a:ext cx="1268110" cy="225927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334">
                <a:solidFill>
                  <a:srgbClr val="F6F6F6"/>
                </a:solidFill>
                <a:latin typeface="Malgun Gothic"/>
              </a:defRPr>
            </a:pPr>
            <a:r>
              <a:t>CORE REASONS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1198" y="1377430"/>
            <a:ext cx="30609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162">
                <a:solidFill>
                  <a:srgbClr val="FFFFFF"/>
                </a:solidFill>
                <a:latin typeface="Malgun Gothic"/>
              </a:defRPr>
            </a:pPr>
            <a:r>
              <a:t>A)(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36369" y="1399294"/>
            <a:ext cx="31338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93">
                <a:solidFill>
                  <a:srgbClr val="FFFFFF"/>
                </a:solidFill>
                <a:latin typeface="Malgun Gothic"/>
              </a:defRPr>
            </a:pPr>
            <a:r>
              <a:t>HOW HE DIFFERS FROM TYPICAL SHONEN HEROES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54169" y="1413870"/>
            <a:ext cx="16762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46">
                <a:solidFill>
                  <a:srgbClr val="F8D264"/>
                </a:solidFill>
                <a:latin typeface="Malgun Gothic"/>
              </a:defRPr>
            </a:pPr>
            <a:r>
              <a:t>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77445" y="1770981"/>
            <a:ext cx="134099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46">
                <a:solidFill>
                  <a:srgbClr val="F7F7F7"/>
                </a:solidFill>
                <a:latin typeface="Malgun Gothic"/>
              </a:defRPr>
            </a:pPr>
            <a:r>
              <a:t>BUILT AS A SATIRE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0165" y="1865725"/>
            <a:ext cx="218639" cy="40083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000">
                <a:solidFill>
                  <a:srgbClr val="050400"/>
                </a:solidFill>
                <a:latin typeface="Malgun Gothic"/>
              </a:defRPr>
            </a:pPr>
            <a: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62869" y="1967757"/>
            <a:ext cx="2368597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>
                <a:solidFill>
                  <a:srgbClr val="040303"/>
                </a:solidFill>
                <a:latin typeface="Malgun Gothic"/>
              </a:defRPr>
            </a:pPr>
            <a:r>
              <a:t>Saitama was designed to parody power-scaling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77445" y="2142669"/>
            <a:ext cx="2171821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>
                <a:solidFill>
                  <a:srgbClr val="040303"/>
                </a:solidFill>
                <a:latin typeface="Malgun Gothic"/>
              </a:defRPr>
            </a:pPr>
            <a:r>
              <a:t>stories—his absurd strength is the premise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62869" y="2273853"/>
            <a:ext cx="81625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6">
                <a:solidFill>
                  <a:srgbClr val="000000"/>
                </a:solidFill>
                <a:latin typeface="Malgun Gothic"/>
              </a:defRPr>
            </a:pPr>
            <a:r>
              <a:t>not the reward.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70157" y="2601812"/>
            <a:ext cx="2040637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89">
                <a:solidFill>
                  <a:srgbClr val="020202"/>
                </a:solidFill>
                <a:latin typeface="Malgun Gothic"/>
              </a:defRPr>
            </a:pPr>
            <a:r>
              <a:t>ALREADY AT THE FINISH LINE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6437" y="2667404"/>
            <a:ext cx="342535" cy="451855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000">
                <a:solidFill>
                  <a:srgbClr val="050400"/>
                </a:solidFill>
                <a:latin typeface="Malgun Gothic"/>
              </a:defRPr>
            </a:pPr>
            <a:r>
              <a:t>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62869" y="2798588"/>
            <a:ext cx="2346733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>
                <a:solidFill>
                  <a:srgbClr val="030303"/>
                </a:solidFill>
                <a:latin typeface="Malgun Gothic"/>
              </a:defRPr>
            </a:pPr>
            <a:r>
              <a:t>While others train and climb for years to reach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5581" y="2951636"/>
            <a:ext cx="221554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>
                <a:solidFill>
                  <a:srgbClr val="050404"/>
                </a:solidFill>
                <a:latin typeface="Malgun Gothic"/>
              </a:defRPr>
            </a:pPr>
            <a:r>
              <a:t>the top, he begins where most protagonists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70157" y="3126548"/>
            <a:ext cx="107862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>
                <a:solidFill>
                  <a:srgbClr val="030302"/>
                </a:solidFill>
                <a:latin typeface="Malgun Gothic"/>
              </a:defRPr>
            </a:pPr>
            <a:r>
              <a:t>are supposed to end.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62869" y="3418068"/>
            <a:ext cx="199690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032">
                <a:solidFill>
                  <a:srgbClr val="FFFFFF"/>
                </a:solidFill>
                <a:latin typeface="Malgun Gothic"/>
              </a:defRPr>
            </a:pPr>
            <a:r>
              <a:t>LIMIT-BREAKING SIMPLICITY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2877" y="3512811"/>
            <a:ext cx="269655" cy="40083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000">
                <a:solidFill>
                  <a:srgbClr val="050400"/>
                </a:solidFill>
                <a:latin typeface="Malgun Gothic"/>
              </a:defRPr>
            </a:pPr>
            <a: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62869" y="3643995"/>
            <a:ext cx="247062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>
                <a:solidFill>
                  <a:srgbClr val="050504"/>
                </a:solidFill>
                <a:latin typeface="Malgun Gothic"/>
              </a:defRPr>
            </a:pPr>
            <a:r>
              <a:t>His routine is both disciplined and comically extreme: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55581" y="3775179"/>
            <a:ext cx="201148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>
                <a:solidFill>
                  <a:srgbClr val="010101"/>
                </a:solidFill>
                <a:latin typeface="Malgun Gothic"/>
              </a:defRPr>
            </a:pPr>
            <a:r>
              <a:t>100 push-ups, 100 sit-ups, 100 squats,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62869" y="3942803"/>
            <a:ext cx="139929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>
                <a:solidFill>
                  <a:srgbClr val="020201"/>
                </a:solidFill>
                <a:latin typeface="Malgun Gothic"/>
              </a:defRPr>
            </a:pPr>
            <a:r>
              <a:t>and a 10 km run every day.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77445" y="4263475"/>
            <a:ext cx="179284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03">
                <a:solidFill>
                  <a:srgbClr val="FFFFFF"/>
                </a:solidFill>
                <a:latin typeface="Malgun Gothic"/>
              </a:defRPr>
            </a:pPr>
            <a:r>
              <a:t>EMOTIONALLY UNSHAKEN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3725" y="4299914"/>
            <a:ext cx="327959" cy="46643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000">
                <a:solidFill>
                  <a:srgbClr val="040300"/>
                </a:solidFill>
                <a:latin typeface="Malgun Gothic"/>
              </a:defRPr>
            </a:pPr>
            <a:r>
              <a:t>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55581" y="4445674"/>
            <a:ext cx="2062501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>
                <a:solidFill>
                  <a:srgbClr val="030303"/>
                </a:solidFill>
                <a:latin typeface="Malgun Gothic"/>
              </a:defRPr>
            </a:pPr>
            <a:r>
              <a:t>He fights without fear, ego, or hesitation.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48293" y="4598722"/>
            <a:ext cx="203334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13">
                <a:solidFill>
                  <a:srgbClr val="030303"/>
                </a:solidFill>
                <a:latin typeface="Malgun Gothic"/>
              </a:defRPr>
            </a:pPr>
            <a:r>
              <a:t>No need to prove himself—he's already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62869" y="4766346"/>
            <a:ext cx="161064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>
                <a:solidFill>
                  <a:srgbClr val="040303"/>
                </a:solidFill>
                <a:latin typeface="Malgun Gothic"/>
              </a:defRPr>
            </a:pPr>
            <a:r>
              <a:t>beyond the need for validation.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70157" y="5094306"/>
            <a:ext cx="243418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930">
                <a:solidFill>
                  <a:srgbClr val="000000"/>
                </a:solidFill>
                <a:latin typeface="Malgun Gothic"/>
              </a:defRPr>
            </a:pPr>
            <a:r>
              <a:t>THE STORY NEEDS AN UNBEATABLE HERO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11013" y="5145321"/>
            <a:ext cx="298807" cy="42999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2000">
                <a:solidFill>
                  <a:srgbClr val="040300"/>
                </a:solidFill>
                <a:latin typeface="Malgun Gothic"/>
              </a:defRPr>
            </a:pPr>
            <a:r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62869" y="5291081"/>
            <a:ext cx="2222837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>
                <a:solidFill>
                  <a:srgbClr val="020102"/>
                </a:solidFill>
                <a:latin typeface="Malgun Gothic"/>
              </a:defRPr>
            </a:pPr>
            <a:r>
              <a:t>His power lets the series go beyond battles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48293" y="5444129"/>
            <a:ext cx="2244701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11">
                <a:solidFill>
                  <a:srgbClr val="010101"/>
                </a:solidFill>
                <a:latin typeface="Malgun Gothic"/>
              </a:defRPr>
            </a:pPr>
            <a:r>
              <a:t>to explore boredom, meaning, and identity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62869" y="5589889"/>
            <a:ext cx="117336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>
                <a:solidFill>
                  <a:srgbClr val="020202"/>
                </a:solidFill>
                <a:latin typeface="Malgun Gothic"/>
              </a:defRPr>
            </a:pPr>
            <a:r>
              <a:t>after absolute victory.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384867" y="6070896"/>
            <a:ext cx="4197883" cy="21863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136">
                <a:solidFill>
                  <a:srgbClr val="020202"/>
                </a:solidFill>
                <a:latin typeface="Malgun Gothic"/>
              </a:defRPr>
            </a:pPr>
            <a:r>
              <a:t>One Punch Man is powerful as a character because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85925" y="6136488"/>
            <a:ext cx="1596070" cy="357111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382">
                <a:solidFill>
                  <a:srgbClr val="FFFFFF"/>
                </a:solidFill>
                <a:latin typeface="Malgun Gothic"/>
              </a:defRPr>
            </a:pPr>
            <a:r>
              <a:t>D) KEY TAKEAWAY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70291" y="6318688"/>
            <a:ext cx="4256187" cy="240503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1024">
                <a:solidFill>
                  <a:srgbClr val="020202"/>
                </a:solidFill>
                <a:latin typeface="Malgun Gothic"/>
              </a:defRPr>
            </a:pPr>
            <a:r>
              <a:t>his strength is both a joke and a storytelling device.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74926" y="1333702"/>
            <a:ext cx="1617934" cy="291519"/>
          </a:xfrm>
          <a:prstGeom prst="rect">
            <a:avLst/>
          </a:prstGeom>
          <a:solidFill>
            <a:srgbClr val="0202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592021" y="1792845"/>
            <a:ext cx="1319126" cy="211351"/>
          </a:xfrm>
          <a:prstGeom prst="rect">
            <a:avLst/>
          </a:prstGeom>
          <a:solidFill>
            <a:srgbClr val="010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592021" y="3447219"/>
            <a:ext cx="1967757" cy="218639"/>
          </a:xfrm>
          <a:prstGeom prst="rect">
            <a:avLst/>
          </a:prstGeom>
          <a:solidFill>
            <a:srgbClr val="01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592021" y="4278051"/>
            <a:ext cx="1770981" cy="211351"/>
          </a:xfrm>
          <a:prstGeom prst="rect">
            <a:avLst/>
          </a:prstGeom>
          <a:solidFill>
            <a:srgbClr val="0101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111013" y="6063608"/>
            <a:ext cx="1945893" cy="502871"/>
          </a:xfrm>
          <a:prstGeom prst="rect">
            <a:avLst/>
          </a:prstGeom>
          <a:solidFill>
            <a:srgbClr val="BD0F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96137" y="1967757"/>
            <a:ext cx="96930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817">
                <a:solidFill>
                  <a:srgbClr val="111111"/>
                </a:solidFill>
                <a:latin typeface="Malgun Gothic"/>
              </a:defRPr>
            </a:pPr>
            <a:r>
              <a:t>•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41322" y="2142669"/>
            <a:ext cx="72879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00">
                <a:solidFill>
                  <a:srgbClr val="111111"/>
                </a:solidFill>
                <a:latin typeface="Malgun Gothic"/>
              </a:defRPr>
            </a:pPr>
            <a:r>
              <a:t>•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29370" y="3643995"/>
            <a:ext cx="86727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>
              <a:defRPr sz="731">
                <a:solidFill>
                  <a:srgbClr val="111111"/>
                </a:solidFill>
                <a:latin typeface="Malgun Gothic"/>
              </a:defRPr>
            </a:pPr>
            <a:r>
              <a:t>•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